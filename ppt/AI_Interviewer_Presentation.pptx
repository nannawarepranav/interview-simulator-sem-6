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0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372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078A3-F23C-866D-CBAC-B7E08B5C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07C3E6-D639-BBE8-3C9C-8F7CC2892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83398B-37B2-4778-35F6-1D952D54A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22807-9119-CC5C-927A-C7B4DC38C9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1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9CE66-D83F-7333-C3DD-28529A0C9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6E373-D4AC-B7FB-97F5-C5802343D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0B78A-5545-1FA9-D84D-42012C651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BD25E-7B0A-49F7-9041-7284D974CF7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3D67E-1286-B87B-F098-F5627771D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8A87E-0661-4588-5C72-188BFFBC6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5F2F-8488-4956-88CF-501CB8110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75133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F3D75-7DCF-D643-B919-99A9FF39A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12666-4541-5E68-1A56-958F50E6C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07C9A-1AC8-E175-2451-F3062A1CF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BD25E-7B0A-49F7-9041-7284D974CF7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2142A-785D-7678-4DB2-9FAF76E12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1D521-1A54-A869-71F1-69270BC04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5F2F-8488-4956-88CF-501CB8110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6967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0DC6-3D80-C682-C3A4-3217B73B1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14158-3E54-16AD-8F17-42C1293A7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59F8C-0518-1064-0517-AEF7A740A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BD25E-7B0A-49F7-9041-7284D974CF7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E36E0-5F44-2B8F-84C9-79F5515B9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099EC-CAAC-7069-D35C-BB07681BB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5F2F-8488-4956-88CF-501CB8110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99529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46098-365E-8271-8A67-776DF9A38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9398A-088B-2E54-288E-040E47399F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56BD9C-A906-6C27-113E-19955DEDC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B861F-9550-6A05-21AF-D23499AA5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BD25E-7B0A-49F7-9041-7284D974CF7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DC925-9806-2B8E-07E1-8FE7E1AD7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9F6C3-BC18-844E-B6CA-7F43DC3E9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5F2F-8488-4956-88CF-501CB8110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51944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7115B-E70B-BEDC-8DE0-B03EAD5B5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FD0E5-5D82-8AFB-1AAE-6429101F6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F31F2-AAC3-01E4-E0FB-EDCE0A655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DA081C-C56F-0F21-0A3E-63E31DD9E6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C688D4-3109-3EE3-D180-7490873BD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FE0D62-383A-1738-CB94-0482EAC9F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BD25E-7B0A-49F7-9041-7284D974CF7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4A5FD4-7562-DA66-C7D4-7FC342108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C2A821-713C-B21A-E0A7-4EA5D93E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5F2F-8488-4956-88CF-501CB8110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86621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76E40-FC8F-4D56-B18A-0F5595D69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41B2CD-CD0F-6EB7-8CD0-A1CD35FC3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BD25E-7B0A-49F7-9041-7284D974CF7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FC39D-C97C-AC1D-2A13-150EB7830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DE4A09-AC3A-172E-8E1F-4EEF022DA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5F2F-8488-4956-88CF-501CB8110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85168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92A8DB-909D-246E-BBBD-6FBF2C65E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BD25E-7B0A-49F7-9041-7284D974CF7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F6F4ED-1E61-CDD0-C83F-D098A7D7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B1D72-78BA-6509-9277-EB3F27FDC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5F2F-8488-4956-88CF-501CB8110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95111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2274D-5DD1-EB99-8E0F-26E892F51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54E1D-A8F4-7F2A-912A-D41AF343E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6D69D-A6A5-4D7B-2AB8-6CC8F7C0B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5BEAE-AAB5-0F94-B0EF-42159E46D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BD25E-7B0A-49F7-9041-7284D974CF7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EE3A9-ECE8-33DA-3488-46C5C4AC3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0C297-20F7-41AA-464B-C4004700C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5F2F-8488-4956-88CF-501CB8110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27167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05D5-AC63-D177-55D3-97A7ECE23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33E39D-D09E-BACF-5EB7-05087C3C5D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3E6D5-15B2-CFBC-BA6C-82393D75F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0ACCB-B38D-6B1F-A543-B75DD78C0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BD25E-7B0A-49F7-9041-7284D974CF7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9436B-49A5-CD2D-53F1-40D7805B5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8CF59-D646-4758-76C5-A4BD8E493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5F2F-8488-4956-88CF-501CB8110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5127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3898-7B38-5B5B-D608-4DE75A677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C59E5D-6821-CD26-2BD1-DFD4D21760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84D89-CA46-C499-18D8-0BFFFC4CD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BD25E-7B0A-49F7-9041-7284D974CF7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90F47-2C1C-CEAB-E580-73F88FC78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59A20-1E44-9E27-EDF2-CEA6788F5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5F2F-8488-4956-88CF-501CB8110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8157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EF3082-E302-49B7-ED64-1CEC7C9E2B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1ABB24-7BE2-537D-6A00-9E820FEA1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CC9E4-E90E-B5CF-79C9-3B8814278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BD25E-7B0A-49F7-9041-7284D974CF7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2234C-AF07-9097-ABE8-177951B87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62DBF-1A7B-BF8B-81A9-B23FDC8AF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5F2F-8488-4956-88CF-501CB8110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8781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854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EDA225-D11B-27C5-275F-A078C889B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114C0-87CF-13C4-B089-EEA6CE816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BDCDD-121B-7F56-FC60-EC2626838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BD25E-7B0A-49F7-9041-7284D974CF7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D3C3C-9351-DB98-A0E3-2130962C9D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ED528-C67B-549E-B9DC-BC25C4F87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25F2F-8488-4956-88CF-501CB8110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396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3B82F6">
              <a:alpha val="12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286000"/>
            <a:ext cx="2926080" cy="2926080"/>
          </a:xfrm>
          <a:prstGeom prst="ellipse">
            <a:avLst/>
          </a:prstGeom>
          <a:solidFill>
            <a:srgbClr val="22C55E">
              <a:alpha val="1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51560"/>
            <a:ext cx="1371600" cy="246888"/>
          </a:xfrm>
          <a:prstGeom prst="roundRect">
            <a:avLst>
              <a:gd name="adj" fmla="val 2592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AI · NLP · CV · RL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Interviewer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Mock Interview Platform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329184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3246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+ JD Parsing  ·  GloVe Embeddings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63016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3584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Topic Selection via REINFORCE (RL)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96849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9227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Question Generation  ·  MiniLM Scoring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30682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4261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Head Pose &amp; Gaze Monitoring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React · PyTorch · HuggingFace · MediaPipe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Three-tier: React Frontend  ·  FastAPI Backend  ·  ML Module Layer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19339"/>
            <a:ext cx="8503920" cy="1051103"/>
          </a:xfrm>
          <a:prstGeom prst="rect">
            <a:avLst/>
          </a:prstGeom>
          <a:solidFill>
            <a:srgbClr val="1A2A3A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React 18 + Vite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920240" cy="384048"/>
          </a:xfrm>
          <a:prstGeom prst="rect">
            <a:avLst/>
          </a:prstGeom>
          <a:solidFill>
            <a:srgbClr val="243447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0" y="1417320"/>
            <a:ext cx="1920240" cy="384048"/>
          </a:xfrm>
          <a:prstGeom prst="rect">
            <a:avLst/>
          </a:prstGeom>
          <a:solidFill>
            <a:srgbClr val="243447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417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Check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417320"/>
            <a:ext cx="1920240" cy="384048"/>
          </a:xfrm>
          <a:prstGeom prst="rect">
            <a:avLst/>
          </a:prstGeom>
          <a:solidFill>
            <a:srgbClr val="243447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417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Panel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75120" y="1417320"/>
            <a:ext cx="1920240" cy="384048"/>
          </a:xfrm>
          <a:prstGeom prst="rect">
            <a:avLst/>
          </a:prstGeom>
          <a:solidFill>
            <a:srgbClr val="243447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417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Screen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50606" y="1938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176272"/>
            <a:ext cx="8503920" cy="777240"/>
          </a:xfrm>
          <a:prstGeom prst="rect">
            <a:avLst/>
          </a:prstGeom>
          <a:solidFill>
            <a:srgbClr val="1A2A3A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221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FastAPI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523744"/>
            <a:ext cx="1920240" cy="320040"/>
          </a:xfrm>
          <a:prstGeom prst="rect">
            <a:avLst/>
          </a:prstGeom>
          <a:solidFill>
            <a:srgbClr val="243447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237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/session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0" y="2523744"/>
            <a:ext cx="1920240" cy="320040"/>
          </a:xfrm>
          <a:prstGeom prst="rect">
            <a:avLst/>
          </a:prstGeom>
          <a:solidFill>
            <a:srgbClr val="243447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25237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/interview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2523744"/>
            <a:ext cx="1920240" cy="320040"/>
          </a:xfrm>
          <a:prstGeom prst="rect">
            <a:avLst/>
          </a:prstGeom>
          <a:solidFill>
            <a:srgbClr val="243447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5237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/cv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2523744"/>
            <a:ext cx="1920240" cy="320040"/>
          </a:xfrm>
          <a:prstGeom prst="rect">
            <a:avLst/>
          </a:prstGeom>
          <a:solidFill>
            <a:srgbClr val="243447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25237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/report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035808"/>
            <a:ext cx="8503920" cy="1005840"/>
          </a:xfrm>
          <a:prstGeom prst="rect">
            <a:avLst/>
          </a:prstGeom>
          <a:solidFill>
            <a:srgbClr val="1A2A3A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3081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MODULE LAYER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3401568"/>
            <a:ext cx="1572768" cy="548640"/>
          </a:xfrm>
          <a:prstGeom prst="rect">
            <a:avLst/>
          </a:prstGeom>
          <a:solidFill>
            <a:srgbClr val="24344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4290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100d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367588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075688" y="3401568"/>
            <a:ext cx="1572768" cy="548640"/>
          </a:xfrm>
          <a:prstGeom prst="rect">
            <a:avLst/>
          </a:prstGeom>
          <a:solidFill>
            <a:srgbClr val="24344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75688" y="34290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NN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075688" y="367588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739896" y="3401568"/>
            <a:ext cx="1572768" cy="548640"/>
          </a:xfrm>
          <a:prstGeom prst="rect">
            <a:avLst/>
          </a:prstGeom>
          <a:solidFill>
            <a:srgbClr val="24344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39896" y="34290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</a:t>
            </a: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</a:t>
            </a:r>
            <a:r>
              <a:rPr lang="en-IN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739896" y="367588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Q-Generator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04104" y="3401568"/>
            <a:ext cx="1572768" cy="548640"/>
          </a:xfrm>
          <a:prstGeom prst="rect">
            <a:avLst/>
          </a:prstGeom>
          <a:solidFill>
            <a:srgbClr val="24344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04104" y="34290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MiniLM-L6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04104" y="367588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 Scorer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068312" y="3401568"/>
            <a:ext cx="1572768" cy="548640"/>
          </a:xfrm>
          <a:prstGeom prst="rect">
            <a:avLst/>
          </a:prstGeom>
          <a:solidFill>
            <a:srgbClr val="24344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1" name="Text 39"/>
          <p:cNvSpPr/>
          <p:nvPr/>
        </p:nvSpPr>
        <p:spPr>
          <a:xfrm>
            <a:off x="7068312" y="34290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068312" y="367588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Report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" y="4114800"/>
            <a:ext cx="8503920" cy="640080"/>
          </a:xfrm>
          <a:prstGeom prst="rect">
            <a:avLst/>
          </a:prstGeom>
          <a:solidFill>
            <a:srgbClr val="1A2A3A"/>
          </a:solidFill>
          <a:ln w="12700">
            <a:solidFill>
              <a:srgbClr val="2D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0292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2920" y="44074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interview_questions.xlsx  ·  glove.6B.100d.txt  ·  topic_classifier.pt  ·  rl_agent.pt</a:t>
            </a:r>
            <a:endParaRPr lang="en-US" sz="900" dirty="0"/>
          </a:p>
        </p:txBody>
      </p:sp>
      <p:sp>
        <p:nvSpPr>
          <p:cNvPr id="47" name="Text 36">
            <a:extLst>
              <a:ext uri="{FF2B5EF4-FFF2-40B4-BE49-F238E27FC236}">
                <a16:creationId xmlns:a16="http://schemas.microsoft.com/office/drawing/2014/main" id="{900773FC-E3B4-0028-4136-EADF90F405FD}"/>
              </a:ext>
            </a:extLst>
          </p:cNvPr>
          <p:cNvSpPr/>
          <p:nvPr/>
        </p:nvSpPr>
        <p:spPr>
          <a:xfrm>
            <a:off x="7045659" y="347036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Report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from resume ingestion to adaptive question delivery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5669280" cy="365760"/>
          </a:xfrm>
          <a:prstGeom prst="rect">
            <a:avLst/>
          </a:prstGeom>
          <a:solidFill>
            <a:srgbClr val="1A2A3A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64008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241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(PDF/TXT) + Job Description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1490472"/>
            <a:ext cx="5669280" cy="365760"/>
          </a:xfrm>
          <a:prstGeom prst="rect">
            <a:avLst/>
          </a:prstGeom>
          <a:solidFill>
            <a:srgbClr val="1A2A3A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490472"/>
            <a:ext cx="64008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08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Parser  (pypdf + regex)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856232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1975104"/>
            <a:ext cx="5669280" cy="365760"/>
          </a:xfrm>
          <a:prstGeom prst="rect">
            <a:avLst/>
          </a:prstGeom>
          <a:solidFill>
            <a:srgbClr val="1A2A3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975104"/>
            <a:ext cx="64008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9339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100d Embedder  →  mean-pool sentence vector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3408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2459736"/>
            <a:ext cx="5669280" cy="365760"/>
          </a:xfrm>
          <a:prstGeom prst="rect">
            <a:avLst/>
          </a:prstGeom>
          <a:solidFill>
            <a:srgbClr val="1A2A3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459736"/>
            <a:ext cx="64008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47802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Classifier NN  →  probability over 6 topics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2825496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1480" y="2944368"/>
            <a:ext cx="5669280" cy="365760"/>
          </a:xfrm>
          <a:prstGeom prst="rect">
            <a:avLst/>
          </a:prstGeom>
          <a:solidFill>
            <a:srgbClr val="1A2A3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44368"/>
            <a:ext cx="64008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96265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 (REINFORCE)  →  select next topic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310128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1480" y="3429000"/>
            <a:ext cx="5669280" cy="365760"/>
          </a:xfrm>
          <a:prstGeom prst="rect">
            <a:avLst/>
          </a:prstGeom>
          <a:solidFill>
            <a:srgbClr val="1A2A3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429000"/>
            <a:ext cx="64008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4472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Question Generator  →  contextual question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3794760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11480" y="3913632"/>
            <a:ext cx="5669280" cy="365760"/>
          </a:xfrm>
          <a:prstGeom prst="rect">
            <a:avLst/>
          </a:prstGeom>
          <a:solidFill>
            <a:srgbClr val="1A2A3A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913632"/>
            <a:ext cx="64008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9319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Answer  →  MiniLM Scorer  →  0–1 score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4279392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11480" y="4398264"/>
            <a:ext cx="5669280" cy="365760"/>
          </a:xfrm>
          <a:prstGeom prst="rect">
            <a:avLst/>
          </a:prstGeom>
          <a:solidFill>
            <a:srgbClr val="1A2A3A"/>
          </a:solidFill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Shape 31"/>
          <p:cNvSpPr/>
          <p:nvPr/>
        </p:nvSpPr>
        <p:spPr>
          <a:xfrm>
            <a:off x="411480" y="4398264"/>
            <a:ext cx="64008" cy="3657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41655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Report </a:t>
            </a:r>
            <a:r>
              <a:rPr lang="en-IN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98771" y="1005840"/>
            <a:ext cx="2331720" cy="3749040"/>
          </a:xfrm>
          <a:prstGeom prst="rect">
            <a:avLst/>
          </a:prstGeom>
          <a:solidFill>
            <a:srgbClr val="1A2A3A"/>
          </a:solidFill>
          <a:ln w="12700">
            <a:solidFill>
              <a:srgbClr val="2D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92240" y="10515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TOPICS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83680" y="1417320"/>
            <a:ext cx="2148840" cy="393192"/>
          </a:xfrm>
          <a:prstGeom prst="rect">
            <a:avLst/>
          </a:prstGeom>
          <a:solidFill>
            <a:srgbClr val="24344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1417320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83680" y="1929384"/>
            <a:ext cx="2148840" cy="393192"/>
          </a:xfrm>
          <a:prstGeom prst="rect">
            <a:avLst/>
          </a:prstGeom>
          <a:solidFill>
            <a:srgbClr val="24344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1929384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83680" y="2441448"/>
            <a:ext cx="2148840" cy="393192"/>
          </a:xfrm>
          <a:prstGeom prst="rect">
            <a:avLst/>
          </a:prstGeom>
          <a:solidFill>
            <a:srgbClr val="24344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2441448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583680" y="2953512"/>
            <a:ext cx="2148840" cy="393192"/>
          </a:xfrm>
          <a:prstGeom prst="rect">
            <a:avLst/>
          </a:prstGeom>
          <a:solidFill>
            <a:srgbClr val="24344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2953512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&amp; SQL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583680" y="3465576"/>
            <a:ext cx="2148840" cy="393192"/>
          </a:xfrm>
          <a:prstGeom prst="rect">
            <a:avLst/>
          </a:prstGeom>
          <a:solidFill>
            <a:srgbClr val="243447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3465576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583680" y="3977640"/>
            <a:ext cx="2148840" cy="393192"/>
          </a:xfrm>
          <a:prstGeom prst="rect">
            <a:avLst/>
          </a:prstGeom>
          <a:solidFill>
            <a:srgbClr val="24344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3977640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  ·  Topic Classifier  ·  Question Generator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474720"/>
          </a:xfrm>
          <a:prstGeom prst="rect">
            <a:avLst/>
          </a:prstGeom>
          <a:solidFill>
            <a:srgbClr val="1A2A3A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100d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44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45920" y="16276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NLP, 2014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+ Gigaword 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395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23957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floats / word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7797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45920" y="27797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~400,000 tokens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1638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45920" y="316382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~347 MB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5478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45920" y="35478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Mean-pool → sentence vec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time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4592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~15–25 seconds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1005840"/>
            <a:ext cx="2743200" cy="3474720"/>
          </a:xfrm>
          <a:prstGeom prst="rect">
            <a:avLst/>
          </a:prstGeom>
          <a:solidFill>
            <a:srgbClr val="1A2A3A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1005840"/>
            <a:ext cx="27432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1078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Classifier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0" y="1344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3280" y="1627632"/>
            <a:ext cx="2468880" cy="384048"/>
          </a:xfrm>
          <a:prstGeom prst="rect">
            <a:avLst/>
          </a:prstGeom>
          <a:solidFill>
            <a:srgbClr val="24344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16642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83280" y="2011680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383280" y="2157984"/>
            <a:ext cx="2468880" cy="384048"/>
          </a:xfrm>
          <a:prstGeom prst="rect">
            <a:avLst/>
          </a:prstGeom>
          <a:solidFill>
            <a:srgbClr val="24344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01568" y="219456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Linear(100→128) + ReLU + Drop(0.3)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83280" y="2542032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383280" y="2688336"/>
            <a:ext cx="2468880" cy="384048"/>
          </a:xfrm>
          <a:prstGeom prst="rect">
            <a:avLst/>
          </a:prstGeom>
          <a:solidFill>
            <a:srgbClr val="24344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01568" y="272491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Linear(128→64) + ReLU + Drop(0.3)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83280" y="3072384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383280" y="3218688"/>
            <a:ext cx="2468880" cy="384048"/>
          </a:xfrm>
          <a:prstGeom prst="rect">
            <a:avLst/>
          </a:prstGeom>
          <a:solidFill>
            <a:srgbClr val="24344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01568" y="32552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Linear(64→6) + Softmax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383280" y="3602736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383280" y="3749040"/>
            <a:ext cx="2468880" cy="384048"/>
          </a:xfrm>
          <a:prstGeom prst="rect">
            <a:avLst/>
          </a:prstGeom>
          <a:solidFill>
            <a:srgbClr val="24344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01568" y="3785616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72200" y="1005840"/>
            <a:ext cx="2651760" cy="3474720"/>
          </a:xfrm>
          <a:prstGeom prst="rect">
            <a:avLst/>
          </a:prstGeom>
          <a:solidFill>
            <a:srgbClr val="1A2A3A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72200" y="1005840"/>
            <a:ext cx="26517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1078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Fine </a:t>
            </a:r>
            <a:r>
              <a:rPr lang="en-IN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309360" y="13441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Generator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09360" y="1627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406640" y="1627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124M (base)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09360" y="19751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406640" y="19751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Hub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309360" y="23225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406640" y="23225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(50,257 vocab)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309360" y="2670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/ top-p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406640" y="2670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 / 0.92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309360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40664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new tokens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30936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406640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+ difficulty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309360" y="37124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406640" y="37124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question_bank.json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309360" y="40599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406640" y="4059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1–4s (CPU)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Answer Scoring  ·  Reinforcement Learning Topic Selection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37603" y="1005840"/>
            <a:ext cx="4206240" cy="3749040"/>
          </a:xfrm>
          <a:prstGeom prst="rect">
            <a:avLst/>
          </a:prstGeom>
          <a:solidFill>
            <a:srgbClr val="1A2A3A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37603" y="1005840"/>
            <a:ext cx="42062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4763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  ·  all-MiniLM-L6-v2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4763" y="13441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Answer Scorer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74763" y="1627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37803" y="16276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MiniLM-L6  (6 transformer layers)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74763" y="19751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37803" y="197510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22M  —  384-dim embeddings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74763" y="23225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37803" y="23225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Cosine(candidate, reference)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74763" y="2670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mapping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37803" y="26700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(cosine + 1) / 2  →  [0, 1]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4763" y="3035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Weighting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4763" y="3337560"/>
            <a:ext cx="1261872" cy="502920"/>
          </a:xfrm>
          <a:prstGeom prst="rect">
            <a:avLst/>
          </a:prstGeom>
          <a:solidFill>
            <a:srgbClr val="243447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763" y="33649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4763" y="356616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0.80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96071" y="3337560"/>
            <a:ext cx="1261872" cy="502920"/>
          </a:xfrm>
          <a:prstGeom prst="rect">
            <a:avLst/>
          </a:prstGeom>
          <a:solidFill>
            <a:srgbClr val="24344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96071" y="33649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96071" y="356616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1.00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17379" y="3337560"/>
            <a:ext cx="1261872" cy="502920"/>
          </a:xfrm>
          <a:prstGeom prst="rect">
            <a:avLst/>
          </a:prstGeom>
          <a:solidFill>
            <a:srgbClr val="243447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17379" y="33649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17379" y="356616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1.25 (max 1.0)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74763" y="39136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Labels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4763" y="4187952"/>
            <a:ext cx="1280160" cy="411480"/>
          </a:xfrm>
          <a:prstGeom prst="rect">
            <a:avLst/>
          </a:prstGeom>
          <a:solidFill>
            <a:srgbClr val="243447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4763" y="42062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4763" y="4389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– 0.30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946363" y="4187952"/>
            <a:ext cx="1280160" cy="411480"/>
          </a:xfrm>
          <a:prstGeom prst="rect">
            <a:avLst/>
          </a:prstGeom>
          <a:solidFill>
            <a:srgbClr val="24344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46363" y="42062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46363" y="4389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 – 0.60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317963" y="4187952"/>
            <a:ext cx="1280160" cy="411480"/>
          </a:xfrm>
          <a:prstGeom prst="rect">
            <a:avLst/>
          </a:prstGeom>
          <a:solidFill>
            <a:srgbClr val="243447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7963" y="42062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17963" y="4389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 – 1.00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Pipeline — MediaPipe Face Mesh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head pose + gaze estimation via webcam at 2 fps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600200" cy="777240"/>
          </a:xfrm>
          <a:prstGeom prst="rect">
            <a:avLst/>
          </a:prstGeom>
          <a:solidFill>
            <a:srgbClr val="1A2A3A"/>
          </a:solidFill>
          <a:ln w="1524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16002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6070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&lt;video&gt;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getUserMedia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828800" y="12070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57400" y="1005840"/>
            <a:ext cx="1600200" cy="777240"/>
          </a:xfrm>
          <a:prstGeom prst="rect">
            <a:avLst/>
          </a:prstGeom>
          <a:solidFill>
            <a:srgbClr val="1A2A3A"/>
          </a:solidFill>
          <a:ln w="1524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57400" y="1005840"/>
            <a:ext cx="16002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06070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Offscreen Canvas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103120" y="1371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toDataURL JPEG 0.7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566160" y="12070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94760" y="1005840"/>
            <a:ext cx="1600200" cy="777240"/>
          </a:xfrm>
          <a:prstGeom prst="rect">
            <a:avLst/>
          </a:prstGeom>
          <a:solidFill>
            <a:srgbClr val="1A2A3A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94760" y="1005840"/>
            <a:ext cx="1600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106070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/api/cv/analyse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0480" y="1371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frame every 500ms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303520" y="12070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32120" y="1005840"/>
            <a:ext cx="1600200" cy="777240"/>
          </a:xfrm>
          <a:prstGeom prst="rect">
            <a:avLst/>
          </a:prstGeom>
          <a:solidFill>
            <a:srgbClr val="1A2A3A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32120" y="1005840"/>
            <a:ext cx="1600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106070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→ numpy RGB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577840" y="1371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+ base64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040880" y="12070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69480" y="1005840"/>
            <a:ext cx="1600200" cy="777240"/>
          </a:xfrm>
          <a:prstGeom prst="rect">
            <a:avLst/>
          </a:prstGeom>
          <a:solidFill>
            <a:srgbClr val="1A2A3A"/>
          </a:solidFill>
          <a:ln w="1524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69480" y="1005840"/>
            <a:ext cx="1600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106070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Mesh v2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15200" y="1371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478 landmarks (468 face + 10 iris)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0040" y="1965960"/>
            <a:ext cx="4160520" cy="1920240"/>
          </a:xfrm>
          <a:prstGeom prst="rect">
            <a:avLst/>
          </a:prstGeom>
          <a:solidFill>
            <a:srgbClr val="1A2A3A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1965960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039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Pose Estimation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237744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737360" y="237744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cv2.solvePnP  (6 anchor landmarks)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274320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737360" y="274320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 · Pitch · Roll  (Rodrigues)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310896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trigger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737360" y="310896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 &gt; ±30°  sustained 3 seconds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347472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landmarks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737360" y="347472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Nose tip, chin, eye corners, mouth corners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1965960"/>
            <a:ext cx="4160520" cy="1920240"/>
          </a:xfrm>
          <a:prstGeom prst="rect">
            <a:avLst/>
          </a:prstGeom>
          <a:solidFill>
            <a:srgbClr val="1A2A3A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1965960"/>
            <a:ext cx="41605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039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Estimation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00600" y="237744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landmarks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72200" y="237744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468–477  (5 per eye)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00600" y="274320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centre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72200" y="274320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5 iris landmarks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00600" y="310896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ratio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72200" y="310896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(iris_x − eye_left_x) / (eye width)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00600" y="347472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Off-screen if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72200" y="347472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&lt; 0.20  or  &gt; 0.80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" y="3977640"/>
            <a:ext cx="8503920" cy="777240"/>
          </a:xfrm>
          <a:prstGeom prst="rect">
            <a:avLst/>
          </a:prstGeom>
          <a:solidFill>
            <a:srgbClr val="1A2A3A"/>
          </a:solidFill>
          <a:ln w="1524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57200" y="4023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System  (violations tracked per session)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43159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warning → Frontend alert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578608" y="43159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warning → Flagged in report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700016" y="43159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3rd+ → cv_score −0.15 each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821424" y="43159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cv_score = max(0.0, 1.0 − 0.15 × (warnings−2))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 &amp; Session Report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scores are computed and reported to the candidate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5939" y="1005840"/>
            <a:ext cx="8503920" cy="1143000"/>
          </a:xfrm>
          <a:prstGeom prst="rect">
            <a:avLst/>
          </a:prstGeom>
          <a:solidFill>
            <a:srgbClr val="1A2A3A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Per-Topic Score Formula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Final_Topic_Score  =  ( NN4_Answer_Score × 0.7 )  +  ( CV_Behavioural_Score × 0.3 )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clamped to [0.0 – 1.0]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4114800" cy="1554480"/>
          </a:xfrm>
          <a:prstGeom prst="rect">
            <a:avLst/>
          </a:prstGeom>
          <a:solidFill>
            <a:srgbClr val="1A2A3A"/>
          </a:solidFill>
          <a:ln w="12700">
            <a:solidFill>
              <a:srgbClr val="2D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Readiness Level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1207008" cy="868680"/>
          </a:xfrm>
          <a:prstGeom prst="rect">
            <a:avLst/>
          </a:prstGeom>
          <a:solidFill>
            <a:srgbClr val="16653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9748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0.70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55648" y="2670048"/>
            <a:ext cx="1207008" cy="868680"/>
          </a:xfrm>
          <a:prstGeom prst="rect">
            <a:avLst/>
          </a:prstGeom>
          <a:solidFill>
            <a:srgbClr val="92400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55648" y="269748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55648" y="310896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0.45–0.70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54096" y="2670048"/>
            <a:ext cx="1207008" cy="868680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54096" y="269748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54096" y="310896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0.45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2286000"/>
            <a:ext cx="4206240" cy="1554480"/>
          </a:xfrm>
          <a:prstGeom prst="rect">
            <a:avLst/>
          </a:prstGeom>
          <a:solidFill>
            <a:srgbClr val="1A2A3A"/>
          </a:solidFill>
          <a:ln w="12700">
            <a:solidFill>
              <a:srgbClr val="2D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Sections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679192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1184" y="2603977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 + Readiness badge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2953512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1184" y="2878297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Per-topic bar chart (Recharts, colour-coded)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3227832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3152617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flags with timestamps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502152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342103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recommendations (sorted by weak topics)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711583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3624569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report download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913632"/>
            <a:ext cx="8503920" cy="886968"/>
          </a:xfrm>
          <a:prstGeom prst="rect">
            <a:avLst/>
          </a:prstGeom>
          <a:solidFill>
            <a:srgbClr val="1A2A3A"/>
          </a:solidFill>
          <a:ln w="12700">
            <a:solidFill>
              <a:srgbClr val="2D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3959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Scores (example)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048" y="420624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84048" y="4407408"/>
            <a:ext cx="1307592" cy="109728"/>
          </a:xfrm>
          <a:prstGeom prst="rect">
            <a:avLst/>
          </a:prstGeom>
          <a:solidFill>
            <a:srgbClr val="243447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4407408"/>
            <a:ext cx="1072225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452628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783080" y="420624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783080" y="4407408"/>
            <a:ext cx="1307592" cy="109728"/>
          </a:xfrm>
          <a:prstGeom prst="rect">
            <a:avLst/>
          </a:prstGeom>
          <a:solidFill>
            <a:srgbClr val="243447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83080" y="4407408"/>
            <a:ext cx="575340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83080" y="452628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182112" y="420624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182112" y="4407408"/>
            <a:ext cx="1307592" cy="109728"/>
          </a:xfrm>
          <a:prstGeom prst="rect">
            <a:avLst/>
          </a:prstGeom>
          <a:solidFill>
            <a:srgbClr val="243447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82112" y="4407408"/>
            <a:ext cx="876087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82112" y="452628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581144" y="420624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81144" y="4407408"/>
            <a:ext cx="1307592" cy="109728"/>
          </a:xfrm>
          <a:prstGeom prst="rect">
            <a:avLst/>
          </a:prstGeom>
          <a:solidFill>
            <a:srgbClr val="243447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81144" y="4407408"/>
            <a:ext cx="71917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81144" y="452628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980176" y="420624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 Design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980176" y="4407408"/>
            <a:ext cx="1307592" cy="109728"/>
          </a:xfrm>
          <a:prstGeom prst="rect">
            <a:avLst/>
          </a:prstGeom>
          <a:solidFill>
            <a:srgbClr val="243447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80176" y="4407408"/>
            <a:ext cx="496885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80176" y="452628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379208" y="420624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379208" y="4407408"/>
            <a:ext cx="1307592" cy="109728"/>
          </a:xfrm>
          <a:prstGeom prst="rect">
            <a:avLst/>
          </a:prstGeom>
          <a:solidFill>
            <a:srgbClr val="243447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79208" y="4407408"/>
            <a:ext cx="1189909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79208" y="452628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2C55E">
              <a:alpha val="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057400" cy="4114800"/>
          </a:xfrm>
          <a:prstGeom prst="rect">
            <a:avLst/>
          </a:prstGeom>
          <a:solidFill>
            <a:srgbClr val="1A2A3A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20574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841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" y="1243584"/>
            <a:ext cx="82296" cy="82296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1795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" y="1746504"/>
            <a:ext cx="82296" cy="82296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6824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(REST calls)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8056" y="2249424"/>
            <a:ext cx="82296" cy="82296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18541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(state)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8056" y="2752344"/>
            <a:ext cx="82296" cy="82296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6883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(bar chart)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8056" y="3255264"/>
            <a:ext cx="82296" cy="82296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1912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8056" y="3758184"/>
            <a:ext cx="82296" cy="82296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36941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getUserMedia + Canvas (CV overlay)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14600" y="777240"/>
            <a:ext cx="2057400" cy="4114800"/>
          </a:xfrm>
          <a:prstGeom prst="rect">
            <a:avLst/>
          </a:prstGeom>
          <a:solidFill>
            <a:srgbClr val="1A2A3A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14600" y="777240"/>
            <a:ext cx="20574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24328" y="841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642616" y="1243584"/>
            <a:ext cx="82296" cy="82296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70632" y="11795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42616" y="1746504"/>
            <a:ext cx="82296" cy="82296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70632" y="16824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(NN + RL)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42616" y="2249424"/>
            <a:ext cx="82296" cy="82296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70632" y="218541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42616" y="2752344"/>
            <a:ext cx="82296" cy="82296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70632" y="26883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642616" y="3255264"/>
            <a:ext cx="82296" cy="82296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70632" y="31912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+ OpenCV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42616" y="3758184"/>
            <a:ext cx="82296" cy="82296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70632" y="36941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pypdf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777240"/>
            <a:ext cx="2057400" cy="4114800"/>
          </a:xfrm>
          <a:prstGeom prst="rect">
            <a:avLst/>
          </a:prstGeom>
          <a:solidFill>
            <a:srgbClr val="1A2A3A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777240"/>
            <a:ext cx="20574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841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37176" y="1243584"/>
            <a:ext cx="82296" cy="82296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65192" y="11795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100d (embeddings)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37176" y="1746504"/>
            <a:ext cx="82296" cy="82296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65192" y="16824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 NN (topic clf)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37176" y="2249424"/>
            <a:ext cx="82296" cy="82296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65192" y="218541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base (Q gen)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37176" y="2752344"/>
            <a:ext cx="82296" cy="82296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65192" y="26883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(scoring)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37176" y="3255264"/>
            <a:ext cx="82296" cy="82296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65192" y="31912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agent (RL)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37176" y="3758184"/>
            <a:ext cx="82296" cy="82296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65192" y="36941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Mesh v2 (CV)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03720" y="777240"/>
            <a:ext cx="2057400" cy="4114800"/>
          </a:xfrm>
          <a:prstGeom prst="rect">
            <a:avLst/>
          </a:prstGeom>
          <a:solidFill>
            <a:srgbClr val="1A2A3A"/>
          </a:solidFill>
          <a:ln w="1905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903720" y="777240"/>
            <a:ext cx="20574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13448" y="841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031736" y="1243584"/>
            <a:ext cx="82296" cy="82296"/>
          </a:xfrm>
          <a:prstGeom prst="ellipse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59752" y="11795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interview_questions.xlsx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031736" y="1746504"/>
            <a:ext cx="82296" cy="82296"/>
          </a:xfrm>
          <a:prstGeom prst="ellipse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59752" y="16824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question_bank.json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031736" y="2249424"/>
            <a:ext cx="82296" cy="82296"/>
          </a:xfrm>
          <a:prstGeom prst="ellipse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59752" y="218541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glove.6B.100d.txt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031736" y="2752344"/>
            <a:ext cx="82296" cy="82296"/>
          </a:xfrm>
          <a:prstGeom prst="ellipse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59752" y="26883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topic_classifier.pt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031736" y="3255264"/>
            <a:ext cx="82296" cy="82296"/>
          </a:xfrm>
          <a:prstGeom prst="ellipse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59752" y="31912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rl_agent.pt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031736" y="3758184"/>
            <a:ext cx="82296" cy="82296"/>
          </a:xfrm>
          <a:prstGeom prst="ellipse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59752" y="36941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(in-memory)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solidFill>
            <a:srgbClr val="1A2A3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  (Frontend)   ·   localhost:8000  (FastAPI)   ·   localhost:8000/docs  (Swagger)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D31572-2D39-AFF7-5B21-F0A765800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F9FFC78-4092-8232-7A5F-A10F122B0455}"/>
              </a:ext>
            </a:extLst>
          </p:cNvPr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3B82F6">
              <a:alpha val="12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94EA316-2F1F-E57D-8EF9-E4F1D2D37763}"/>
              </a:ext>
            </a:extLst>
          </p:cNvPr>
          <p:cNvSpPr/>
          <p:nvPr/>
        </p:nvSpPr>
        <p:spPr>
          <a:xfrm>
            <a:off x="7498080" y="2286000"/>
            <a:ext cx="2926080" cy="2926080"/>
          </a:xfrm>
          <a:prstGeom prst="ellipse">
            <a:avLst/>
          </a:prstGeom>
          <a:solidFill>
            <a:srgbClr val="22C55E">
              <a:alpha val="1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7D00EF-4D8B-481B-006F-F44F2E246D04}"/>
              </a:ext>
            </a:extLst>
          </p:cNvPr>
          <p:cNvSpPr/>
          <p:nvPr/>
        </p:nvSpPr>
        <p:spPr>
          <a:xfrm>
            <a:off x="502920" y="105156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AI · NLP · CV · RL</a:t>
            </a:r>
            <a:endParaRPr lang="en-US" sz="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96A3B68-986C-E585-AF11-B1265477C5AF}"/>
              </a:ext>
            </a:extLst>
          </p:cNvPr>
          <p:cNvSpPr/>
          <p:nvPr/>
        </p:nvSpPr>
        <p:spPr>
          <a:xfrm>
            <a:off x="502920" y="197739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</a:t>
            </a:r>
          </a:p>
          <a:p>
            <a:pPr marL="0" indent="0">
              <a:buNone/>
            </a:pPr>
            <a:r>
              <a:rPr lang="en-US" sz="5400" b="1" kern="0" spc="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YOU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808551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</TotalTime>
  <Words>903</Words>
  <Application>Microsoft Office PowerPoint</Application>
  <PresentationFormat>On-screen Show (16:9)</PresentationFormat>
  <Paragraphs>241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Interviewer</dc:title>
  <dc:subject>PptxGenJS Presentation</dc:subject>
  <dc:creator>PptxGenJS</dc:creator>
  <cp:lastModifiedBy>Pranav Nannaware</cp:lastModifiedBy>
  <cp:revision>3</cp:revision>
  <dcterms:created xsi:type="dcterms:W3CDTF">2026-05-27T10:03:08Z</dcterms:created>
  <dcterms:modified xsi:type="dcterms:W3CDTF">2026-06-04T08:34:59Z</dcterms:modified>
</cp:coreProperties>
</file>