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3B82F6">
              <a:alpha val="12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560320"/>
            <a:ext cx="2560320" cy="2560320"/>
          </a:xfrm>
          <a:prstGeom prst="ellipse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AI · NLP · CV · RL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Interviewer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Mock Interview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4114800" cy="0"/>
          </a:xfrm>
          <a:prstGeom prst="line">
            <a:avLst/>
          </a:prstGeom>
          <a:noFill/>
          <a:ln w="12700">
            <a:solidFill>
              <a:srgbClr val="2D3F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35584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291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Resume + JD Parsing · GloVe Embeddings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6393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Adaptive Topic Selection via REINFORCE (RL)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5079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9867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GPT-2 Question Generation · MiniLM Scoring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9826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334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MediaPipe Head Pose &amp; Gaze Monitoring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React  ·  PyTorch  ·  HuggingFace  ·  MediaPipe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Three-tier: React Frontend  ·  FastAPI Backend  ·  ML Module Layer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8503920" cy="914400"/>
          </a:xfrm>
          <a:prstGeom prst="rect">
            <a:avLst/>
          </a:prstGeom>
          <a:solidFill>
            <a:srgbClr val="1A2B3C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9144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52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FRONTEND — React 18 + Vite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17904"/>
            <a:ext cx="1851660" cy="347472"/>
          </a:xfrm>
          <a:prstGeom prst="roundRect">
            <a:avLst>
              <a:gd name="adj" fmla="val 15789"/>
            </a:avLst>
          </a:prstGeom>
          <a:solidFill>
            <a:srgbClr val="1622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17904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Onboarding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517904"/>
            <a:ext cx="1851660" cy="347472"/>
          </a:xfrm>
          <a:prstGeom prst="roundRect">
            <a:avLst>
              <a:gd name="adj" fmla="val 15789"/>
            </a:avLst>
          </a:prstGeom>
          <a:solidFill>
            <a:srgbClr val="1622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517904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Webcam Check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517904"/>
            <a:ext cx="1851660" cy="347472"/>
          </a:xfrm>
          <a:prstGeom prst="roundRect">
            <a:avLst>
              <a:gd name="adj" fmla="val 15789"/>
            </a:avLst>
          </a:prstGeom>
          <a:solidFill>
            <a:srgbClr val="1622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17904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Interview Panel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517904"/>
            <a:ext cx="1851660" cy="347472"/>
          </a:xfrm>
          <a:prstGeom prst="roundRect">
            <a:avLst>
              <a:gd name="adj" fmla="val 15789"/>
            </a:avLst>
          </a:prstGeom>
          <a:solidFill>
            <a:srgbClr val="16223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17904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Report Screen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121408"/>
            <a:ext cx="8503920" cy="914400"/>
          </a:xfrm>
          <a:prstGeom prst="rect">
            <a:avLst/>
          </a:prstGeom>
          <a:solidFill>
            <a:srgbClr val="1A2B3C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121408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BACKEND — FastAPI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1851660" cy="347472"/>
          </a:xfrm>
          <a:prstGeom prst="roundRect">
            <a:avLst>
              <a:gd name="adj" fmla="val 15789"/>
            </a:avLst>
          </a:prstGeom>
          <a:solidFill>
            <a:srgbClr val="1622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60320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/session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2560320"/>
            <a:ext cx="1851660" cy="347472"/>
          </a:xfrm>
          <a:prstGeom prst="roundRect">
            <a:avLst>
              <a:gd name="adj" fmla="val 15789"/>
            </a:avLst>
          </a:prstGeom>
          <a:solidFill>
            <a:srgbClr val="1622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2560320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/interview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560320"/>
            <a:ext cx="1851660" cy="347472"/>
          </a:xfrm>
          <a:prstGeom prst="roundRect">
            <a:avLst>
              <a:gd name="adj" fmla="val 15789"/>
            </a:avLst>
          </a:prstGeom>
          <a:solidFill>
            <a:srgbClr val="1622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560320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/cv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2560320"/>
            <a:ext cx="1851660" cy="347472"/>
          </a:xfrm>
          <a:prstGeom prst="roundRect">
            <a:avLst>
              <a:gd name="adj" fmla="val 15789"/>
            </a:avLst>
          </a:prstGeom>
          <a:solidFill>
            <a:srgbClr val="1622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560320"/>
            <a:ext cx="18516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/report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163824"/>
            <a:ext cx="8503920" cy="914400"/>
          </a:xfrm>
          <a:prstGeom prst="rect">
            <a:avLst/>
          </a:prstGeom>
          <a:solidFill>
            <a:srgbClr val="1A2B3C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163824"/>
            <a:ext cx="9144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236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ML MODULE LAYER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602736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622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602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GloVe 100d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57984" y="3602736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622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57984" y="3602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Topic NN Classifier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67328" y="3602736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622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3602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GPT-2 Fine-tuned Q-Gen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76672" y="3602736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622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76672" y="3602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MiniLM-L6 Scorer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86016" y="3602736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622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86016" y="3602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Static Report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206240"/>
            <a:ext cx="8503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DATA LAYER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45079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F55"/>
                </a:solidFill>
              </a:rPr>
              <a:t>interview_questions.xlsx  ·  glove.6B.100d.txt  ·  topic_classifier.pt  ·  rl_agent.pt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</a:rPr>
              <a:t>NLP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End-to-end flow from resume ingestion to adaptive question delivery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303520" cy="347472"/>
          </a:xfrm>
          <a:prstGeom prst="rect">
            <a:avLst/>
          </a:prstGeom>
          <a:solidFill>
            <a:srgbClr val="1A2B3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Resume (PDF/TXT) + Job Description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0" y="1051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B82F6"/>
                </a:solidFill>
              </a:rPr>
              <a:t>Input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60120" y="1453896"/>
            <a:ext cx="0" cy="73152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27048"/>
            <a:ext cx="5303520" cy="347472"/>
          </a:xfrm>
          <a:prstGeom prst="rect">
            <a:avLst/>
          </a:prstGeom>
          <a:solidFill>
            <a:srgbClr val="1A2B3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270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Onboarding Parser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1527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B82F6"/>
                </a:solidFill>
              </a:rPr>
              <a:t>pypdf + regex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0120" y="1929384"/>
            <a:ext cx="0" cy="7315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02536"/>
            <a:ext cx="5303520" cy="347472"/>
          </a:xfrm>
          <a:prstGeom prst="rect">
            <a:avLst/>
          </a:prstGeom>
          <a:solidFill>
            <a:srgbClr val="1A2B3C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025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GloVe 100d Embedder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20025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22C55E"/>
                </a:solidFill>
              </a:rPr>
              <a:t>mean-pool sentence vector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0120" y="2404872"/>
            <a:ext cx="0" cy="7315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78024"/>
            <a:ext cx="5303520" cy="347472"/>
          </a:xfrm>
          <a:prstGeom prst="rect">
            <a:avLst/>
          </a:prstGeom>
          <a:solidFill>
            <a:srgbClr val="1A2B3C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780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Topic Classifier NN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478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22C55E"/>
                </a:solidFill>
              </a:rPr>
              <a:t>probability over 6 topics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60120" y="2880360"/>
            <a:ext cx="0" cy="73152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53512"/>
            <a:ext cx="5303520" cy="347472"/>
          </a:xfrm>
          <a:prstGeom prst="rect">
            <a:avLst/>
          </a:prstGeom>
          <a:solidFill>
            <a:srgbClr val="1A2B3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535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RL Agent (REINFORCE)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29535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59E0B"/>
                </a:solidFill>
              </a:rPr>
              <a:t>select next topic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60120" y="3355848"/>
            <a:ext cx="0" cy="73152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29000"/>
            <a:ext cx="5303520" cy="347472"/>
          </a:xfrm>
          <a:prstGeom prst="rect">
            <a:avLst/>
          </a:prstGeom>
          <a:solidFill>
            <a:srgbClr val="1A2B3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429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GPT-2 Question Generator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429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59E0B"/>
                </a:solidFill>
              </a:rPr>
              <a:t>contextual question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60120" y="3831336"/>
            <a:ext cx="0" cy="73152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904488"/>
            <a:ext cx="5303520" cy="347472"/>
          </a:xfrm>
          <a:prstGeom prst="rect">
            <a:avLst/>
          </a:prstGeom>
          <a:solidFill>
            <a:srgbClr val="1A2B3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9044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MiniLM Scorer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3904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B82F6"/>
                </a:solidFill>
              </a:rPr>
              <a:t>candidate answer → 0–1 score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0120" y="4306824"/>
            <a:ext cx="0" cy="731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379976"/>
            <a:ext cx="5303520" cy="347472"/>
          </a:xfrm>
          <a:prstGeom prst="rect">
            <a:avLst/>
          </a:prstGeom>
          <a:solidFill>
            <a:srgbClr val="1A2B3C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3799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Static Report Generation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4379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Output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1051560"/>
            <a:ext cx="2560320" cy="3886200"/>
          </a:xfrm>
          <a:prstGeom prst="rect">
            <a:avLst/>
          </a:prstGeom>
          <a:solidFill>
            <a:srgbClr val="1A2B3C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1051560"/>
            <a:ext cx="256032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6 TOPICS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82512" y="160934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1536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Python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82512" y="215798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2084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DSA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82512" y="270662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2633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82512" y="325526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Databases &amp; SQL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82512" y="38039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3730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System Design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82512" y="435254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4279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Behavioural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</a:rPr>
              <a:t>ML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Word Embeddings  ·  Topic Classifier  ·  Question Generator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200400" cy="3840480"/>
          </a:xfrm>
          <a:prstGeom prst="rect">
            <a:avLst/>
          </a:prstGeom>
          <a:solidFill>
            <a:srgbClr val="1A2B3C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32004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GloVe 100d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Word Embeddings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7556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Stanford NLP, 2014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396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Corpus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1396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Wikipedia + Gigaword 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237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Dimensions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25237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100 floats / word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Vocabulary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907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~400,000 tokens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File size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~347 MB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6758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Usage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83080" y="3675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Mean-pool → sentence vec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599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Load 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40599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~15–25 seconds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03320" y="1051560"/>
            <a:ext cx="2377440" cy="3840480"/>
          </a:xfrm>
          <a:prstGeom prst="rect">
            <a:avLst/>
          </a:prstGeom>
          <a:solidFill>
            <a:srgbClr val="1A2B3C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1051560"/>
            <a:ext cx="237744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Topic Classifier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0" y="1572768"/>
            <a:ext cx="2103120" cy="320040"/>
          </a:xfrm>
          <a:prstGeom prst="rect">
            <a:avLst/>
          </a:prstGeom>
          <a:solidFill>
            <a:srgbClr val="162233"/>
          </a:solidFill>
          <a:ln w="10160">
            <a:solidFill>
              <a:srgbClr val="2D3F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1572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Input (100d)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1892808"/>
            <a:ext cx="0" cy="11887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2011680"/>
            <a:ext cx="2103120" cy="320040"/>
          </a:xfrm>
          <a:prstGeom prst="rect">
            <a:avLst/>
          </a:prstGeom>
          <a:solidFill>
            <a:srgbClr val="1A3A2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Linear(100→128) + ReLU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2331720"/>
            <a:ext cx="0" cy="11887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0" y="2450592"/>
            <a:ext cx="2103120" cy="320040"/>
          </a:xfrm>
          <a:prstGeom prst="rect">
            <a:avLst/>
          </a:prstGeom>
          <a:solidFill>
            <a:srgbClr val="162233"/>
          </a:solidFill>
          <a:ln w="10160">
            <a:solidFill>
              <a:srgbClr val="2D3F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24505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Dropout(0.3)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92040" y="2770632"/>
            <a:ext cx="0" cy="11887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2889504"/>
            <a:ext cx="2103120" cy="320040"/>
          </a:xfrm>
          <a:prstGeom prst="rect">
            <a:avLst/>
          </a:prstGeom>
          <a:solidFill>
            <a:srgbClr val="1A3A2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28895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Linear(128→64) + ReLU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92040" y="3209544"/>
            <a:ext cx="0" cy="11887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0" y="3328416"/>
            <a:ext cx="2103120" cy="320040"/>
          </a:xfrm>
          <a:prstGeom prst="rect">
            <a:avLst/>
          </a:prstGeom>
          <a:solidFill>
            <a:srgbClr val="162233"/>
          </a:solidFill>
          <a:ln w="10160">
            <a:solidFill>
              <a:srgbClr val="2D3F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33284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Dropout(0.3)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92040" y="3648456"/>
            <a:ext cx="0" cy="11887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0" y="3767328"/>
            <a:ext cx="2103120" cy="320040"/>
          </a:xfrm>
          <a:prstGeom prst="rect">
            <a:avLst/>
          </a:prstGeom>
          <a:solidFill>
            <a:srgbClr val="1A3A2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3767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Linear(64→6)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92040" y="4087368"/>
            <a:ext cx="0" cy="11887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0" y="4206240"/>
            <a:ext cx="2103120" cy="320040"/>
          </a:xfrm>
          <a:prstGeom prst="rect">
            <a:avLst/>
          </a:prstGeom>
          <a:solidFill>
            <a:srgbClr val="162233"/>
          </a:solidFill>
          <a:ln w="10160">
            <a:solidFill>
              <a:srgbClr val="2D3F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0" y="4206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Softmax → Output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1051560"/>
            <a:ext cx="2560320" cy="3840480"/>
          </a:xfrm>
          <a:prstGeom prst="rect">
            <a:avLst/>
          </a:prstGeom>
          <a:solidFill>
            <a:srgbClr val="1A2B3C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63640" y="1051560"/>
            <a:ext cx="25603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GPT-2 Fine-tuned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6364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Question Generator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0" y="1755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Params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635240" y="17556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124M (base)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0" y="21396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Source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35240" y="213969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HuggingFace Hub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0" y="25237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Tokenizer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635240" y="252374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BPE (50,257 vocab)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00800" y="2907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Temp / top-p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635240" y="29077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0.85 / 0.92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00800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Max tokens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635240" y="3291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80 new tokens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00800" y="36758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Prompt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635240" y="36758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topic + difficulty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00800" y="40599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Fallback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635240" y="405993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question_bank.json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00800" y="4443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Latency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635240" y="444398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1–4s (CPU)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</a:rPr>
              <a:t>ML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Semantic Answer Scoring  ·  Reinforcement Learning Topic Selection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5212080" cy="3840480"/>
          </a:xfrm>
          <a:prstGeom prst="rect">
            <a:avLst/>
          </a:prstGeom>
          <a:solidFill>
            <a:srgbClr val="1A2B3C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52120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Sentence-BERT  ·  all-MiniLM-L6-v2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49047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Semantic Answer Scorer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755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MiniLM-L6  (6 transformer layers)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Parameters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21396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22M  —  384-dim embeddings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2374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Similarity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5237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Cosine(candidate, reference)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077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Score mapping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907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(cosine + 1) / 2  →  [0, 1]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Difficulty Weighting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1417320" cy="475488"/>
          </a:xfrm>
          <a:prstGeom prst="rect">
            <a:avLst/>
          </a:prstGeom>
          <a:solidFill>
            <a:srgbClr val="16223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5760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Easy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9044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× 0.80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57400" y="3657600"/>
            <a:ext cx="1417320" cy="475488"/>
          </a:xfrm>
          <a:prstGeom prst="rect">
            <a:avLst/>
          </a:prstGeom>
          <a:solidFill>
            <a:srgbClr val="1622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365760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Medium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57400" y="39044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× 1.00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11880" y="3657600"/>
            <a:ext cx="1417320" cy="475488"/>
          </a:xfrm>
          <a:prstGeom prst="rect">
            <a:avLst/>
          </a:prstGeom>
          <a:solidFill>
            <a:srgbClr val="1622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65760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Hard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11880" y="39044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× 1.25 (max 1.0)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Score Labels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427939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87171">
              <a:alpha val="2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4279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Weak  0.0–0.30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971800" y="427939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4279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Partial  0.31–0.60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06240" y="427939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4279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Strong  0.61–1.00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15000" y="1078992"/>
            <a:ext cx="3108960" cy="3840480"/>
          </a:xfrm>
          <a:prstGeom prst="rect">
            <a:avLst/>
          </a:prstGeom>
          <a:solidFill>
            <a:srgbClr val="1A2B3C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15000" y="1078992"/>
            <a:ext cx="310896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10789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REINFORCE Agent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15000" y="1490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RL Topic Selection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52160" y="1755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Algorithm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86600" y="1755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REINFORCE (policy gradient)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21396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State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86600" y="213969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Topic performance vector (6d)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52160" y="25237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Action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86600" y="252374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Select next interview topic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52160" y="2907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Reward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86600" y="29077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MiniLM answer score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52160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Policy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8660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Softmax over topic weights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52160" y="36758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Goal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86600" y="36758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Maximise cumulative score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52160" y="40599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Saved as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86600" y="405993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rl_agent.pt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8"/>
                </a:solidFill>
              </a:rPr>
              <a:t>CV Pipeline — MediaPipe Face Mesh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Real-time head pose + gaze estimation via webcam at 2 fps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554480" cy="640080"/>
          </a:xfrm>
          <a:prstGeom prst="rect">
            <a:avLst/>
          </a:prstGeom>
          <a:solidFill>
            <a:srgbClr val="1A2B3C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</a:rPr>
              <a:t>Browser &lt;video&gt;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getUserMedia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051560"/>
            <a:ext cx="1554480" cy="640080"/>
          </a:xfrm>
          <a:prstGeom prst="rect">
            <a:avLst/>
          </a:prstGeom>
          <a:solidFill>
            <a:srgbClr val="1A2B3C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051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</a:rPr>
              <a:t>Offscreen Canvas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371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toDataURL JPEG 0.7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66160" y="137160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051560"/>
            <a:ext cx="1554480" cy="640080"/>
          </a:xfrm>
          <a:prstGeom prst="rect">
            <a:avLst/>
          </a:prstGeom>
          <a:solidFill>
            <a:srgbClr val="1A2B3C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051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</a:rPr>
              <a:t>POST /api/cv/analyse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49040" y="1371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base64 frame / 500ms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03520" y="137160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051560"/>
            <a:ext cx="1554480" cy="640080"/>
          </a:xfrm>
          <a:prstGeom prst="rect">
            <a:avLst/>
          </a:prstGeom>
          <a:solidFill>
            <a:srgbClr val="1A2B3C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051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</a:rPr>
              <a:t>Decode → numpy RGB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1371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Pillow + base64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1051560"/>
            <a:ext cx="1554480" cy="640080"/>
          </a:xfrm>
          <a:prstGeom prst="rect">
            <a:avLst/>
          </a:prstGeom>
          <a:solidFill>
            <a:srgbClr val="1A2B3C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051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</a:rPr>
              <a:t>Face Mesh v2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23760" y="1371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478 landmarks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1901952"/>
            <a:ext cx="4114800" cy="1828800"/>
          </a:xfrm>
          <a:prstGeom prst="rect">
            <a:avLst/>
          </a:prstGeom>
          <a:solidFill>
            <a:srgbClr val="1A2B3C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1901952"/>
            <a:ext cx="41148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901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Head Pose Estimation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Method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65960" y="23042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cv2.solvePnP (6 anchor landmarks)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Angles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65960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Yaw · Pitch · Roll (Rodrigues)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2999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Warning trigger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65960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Yaw &gt; ±30° sustained 3 seconds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346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Key landmarks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65960" y="3346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Nose tip, chin, eye corners, mouth corners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1901952"/>
            <a:ext cx="4206240" cy="1828800"/>
          </a:xfrm>
          <a:prstGeom prst="rect">
            <a:avLst/>
          </a:prstGeom>
          <a:solidFill>
            <a:srgbClr val="1A2B3C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1901952"/>
            <a:ext cx="42062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19019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Gaze Estimation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Iris landmarks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63640" y="23042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Indices 468–477 (5 per eye)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Iris centre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6364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Mean of 5 iris landmarks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2999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Gaze ratio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63640" y="29992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(iris_x − eye_left_x) / eye width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3346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Off-screen if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33467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ratio &lt; 0.20 or &gt; 0.80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3858768"/>
            <a:ext cx="8503920" cy="1097280"/>
          </a:xfrm>
          <a:prstGeom prst="rect">
            <a:avLst/>
          </a:prstGeom>
          <a:solidFill>
            <a:srgbClr val="1A2B3C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858768"/>
            <a:ext cx="8503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8587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⚠  Warning System  (violations tracked per session)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" y="4279392"/>
            <a:ext cx="2606040" cy="566928"/>
          </a:xfrm>
          <a:prstGeom prst="rect">
            <a:avLst/>
          </a:prstGeom>
          <a:solidFill>
            <a:srgbClr val="1622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279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1st warning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572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Frontend alert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46120" y="4279392"/>
            <a:ext cx="2606040" cy="566928"/>
          </a:xfrm>
          <a:prstGeom prst="rect">
            <a:avLst/>
          </a:prstGeom>
          <a:solidFill>
            <a:srgbClr val="1622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46120" y="4279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2nd warning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46120" y="4572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Flagged in report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35040" y="4279392"/>
            <a:ext cx="2606040" cy="566928"/>
          </a:xfrm>
          <a:prstGeom prst="rect">
            <a:avLst/>
          </a:prstGeom>
          <a:solidFill>
            <a:srgbClr val="1622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4279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3rd+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35040" y="4572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cv_score −0.15 each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641080" y="4279392"/>
            <a:ext cx="137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D1B2A"/>
                </a:solidFill>
              </a:rPr>
              <a:t>cv_score = max(0.0, 1.0 − 0.15 × (warnings − 2)</a:t>
            </a:r>
            <a:endParaRPr lang="en-US" sz="100" dirty="0"/>
          </a:p>
        </p:txBody>
      </p:sp>
      <p:sp>
        <p:nvSpPr>
          <p:cNvPr id="58" name="Shape 56"/>
          <p:cNvSpPr/>
          <p:nvPr/>
        </p:nvSpPr>
        <p:spPr>
          <a:xfrm>
            <a:off x="8549640" y="4279392"/>
            <a:ext cx="9144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8"/>
                </a:solidFill>
              </a:rPr>
              <a:t>Scoring Engine &amp; Session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How scores are computed and reported to the candidate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777240"/>
          </a:xfrm>
          <a:prstGeom prst="rect">
            <a:avLst/>
          </a:prstGeom>
          <a:solidFill>
            <a:srgbClr val="1A2B3C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Per-Topic Score Formula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Final_Topic_Score  =  ( NN4_Answer_Score × 0.7 )  +  ( CV_Behavioural_Score × 0.3 )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029968"/>
            <a:ext cx="2651760" cy="914400"/>
          </a:xfrm>
          <a:prstGeom prst="rect">
            <a:avLst/>
          </a:prstGeom>
          <a:solidFill>
            <a:srgbClr val="1A2B3C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29968"/>
            <a:ext cx="26517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STRONG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25786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≥ 0.70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029968"/>
            <a:ext cx="2651760" cy="914400"/>
          </a:xfrm>
          <a:prstGeom prst="rect">
            <a:avLst/>
          </a:prstGeom>
          <a:solidFill>
            <a:srgbClr val="1A2B3C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2029968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OK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54680" y="25786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0.45 – 0.70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2029968"/>
            <a:ext cx="2651760" cy="914400"/>
          </a:xfrm>
          <a:prstGeom prst="rect">
            <a:avLst/>
          </a:prstGeom>
          <a:solidFill>
            <a:srgbClr val="1A2B3C"/>
          </a:solidFill>
          <a:ln w="254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2029968"/>
            <a:ext cx="265176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</a:rPr>
              <a:t>WEAK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89320" y="25786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&lt; 0.45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4114800" cy="1783080"/>
          </a:xfrm>
          <a:prstGeom prst="rect">
            <a:avLst/>
          </a:prstGeom>
          <a:solidFill>
            <a:srgbClr val="1A2B3C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108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Report Sections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59359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529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Overall score + Readiness badge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22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Per-topic bar chart (Recharts, colour-coded)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17880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114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Behavioural flags with timestamps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447141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407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Study recommendations (sorted by weak topics)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76402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700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JSON report download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108960"/>
            <a:ext cx="4206240" cy="1783080"/>
          </a:xfrm>
          <a:prstGeom prst="rect">
            <a:avLst/>
          </a:prstGeom>
          <a:solidFill>
            <a:srgbClr val="1A2B3C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3108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Topic Scores (example)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493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Python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760720" y="3538728"/>
            <a:ext cx="2926080" cy="137160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0720" y="3538728"/>
            <a:ext cx="2399386" cy="137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05826" y="34930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82%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0" y="37398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DSA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60720" y="3785616"/>
            <a:ext cx="2926080" cy="137160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60720" y="3785616"/>
            <a:ext cx="1287475" cy="1371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93915" y="37398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44%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4880" y="39867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60720" y="4032504"/>
            <a:ext cx="2926080" cy="137160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4032504"/>
            <a:ext cx="1960474" cy="137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66914" y="39867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67%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0" y="42336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SQL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60720" y="4279392"/>
            <a:ext cx="2926080" cy="137160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0720" y="4279392"/>
            <a:ext cx="1609344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15784" y="4233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55%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54880" y="44805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Sys Design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760720" y="4526280"/>
            <a:ext cx="2926080" cy="137160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0" y="4526280"/>
            <a:ext cx="1111910" cy="1371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18350" y="44805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38%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54880" y="4727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Behaviour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60720" y="4773168"/>
            <a:ext cx="2926080" cy="137160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60720" y="4773168"/>
            <a:ext cx="2662733" cy="137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69173" y="47274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8"/>
                </a:solidFill>
              </a:rPr>
              <a:t>91%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</a:rPr>
              <a:t>Technology Stack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103120" cy="3977640"/>
          </a:xfrm>
          <a:prstGeom prst="rect">
            <a:avLst/>
          </a:prstGeom>
          <a:solidFill>
            <a:srgbClr val="1A2B3C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14400"/>
            <a:ext cx="210312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4356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React 18 + Vite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9385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Axios (REST calls)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4414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Zustand (state)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94436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Recharts (bar chart)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4472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Tailwind CSS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9502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getUserMedia + Canvas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914400"/>
            <a:ext cx="2103120" cy="3977640"/>
          </a:xfrm>
          <a:prstGeom prst="rect">
            <a:avLst/>
          </a:prstGeom>
          <a:solidFill>
            <a:srgbClr val="1A2B3C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14600" y="914400"/>
            <a:ext cx="21031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914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Backend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51760" y="15087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14356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FastAPI + Uvicorn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51760" y="2011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19385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PyTorch (NN + RL)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51760" y="2514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07208" y="24414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HuggingFace Transformers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51760" y="30175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07208" y="294436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sentence-transformers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51760" y="352044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07208" y="34472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MediaPipe + OpenCV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51760" y="40233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07208" y="39502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pandas + pypdf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914400"/>
            <a:ext cx="2103120" cy="3977640"/>
          </a:xfrm>
          <a:prstGeom prst="rect">
            <a:avLst/>
          </a:prstGeom>
          <a:solidFill>
            <a:srgbClr val="1A2B3C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914400"/>
            <a:ext cx="210312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914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ML Models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150876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01768" y="14356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GloVe 100d (embeddings)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011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1768" y="19385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Feedforward NN (topic clf)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251460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01768" y="24414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GPT-2 base (Q gen)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01752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01768" y="294436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all-MiniLM-L6-v2 (scoring)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52044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01768" y="34472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REINFORCE agent (RL)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402336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01768" y="39502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Face Mesh v2 (CV)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914400"/>
            <a:ext cx="2103120" cy="3977640"/>
          </a:xfrm>
          <a:prstGeom prst="rect">
            <a:avLst/>
          </a:prstGeom>
          <a:solidFill>
            <a:srgbClr val="1A2B3C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903720" y="914400"/>
            <a:ext cx="210312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914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</a:rPr>
              <a:t>Data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040880" y="150876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96328" y="14356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interview_questions.xlsx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40880" y="201168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96328" y="193852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question_bank.json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40880" y="251460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96328" y="24414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glove.6B.100d.txt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040880" y="301752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96328" y="294436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topic_classifier.pt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040880" y="352044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96328" y="344728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rl_agent.pt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040880" y="402336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96328" y="395020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Session state (in-memory)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solidFill>
            <a:srgbClr val="162233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localhost:5173 (Frontend)   ·   localhost:8000 (FastAPI)   ·   localhost:8000/docs (Swagger)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3B82F6">
              <a:alpha val="12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822960"/>
            <a:ext cx="2743200" cy="320040"/>
          </a:xfrm>
          <a:prstGeom prst="roundRect">
            <a:avLst>
              <a:gd name="adj" fmla="val 22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AI · NLP · CV · RL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0F4F8"/>
                </a:solidFill>
              </a:rPr>
              <a:t>THANK YOU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AI Interviewer  ·  Personalised Mock Interview Platform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3822192"/>
            <a:ext cx="3657600" cy="0"/>
          </a:xfrm>
          <a:prstGeom prst="line">
            <a:avLst/>
          </a:prstGeom>
          <a:noFill/>
          <a:ln w="12700">
            <a:solidFill>
              <a:srgbClr val="2D3F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F55"/>
                </a:solidFill>
              </a:rPr>
              <a:t>FastAPI  ·  React  ·  PyTorch  ·  HuggingFace  ·  MediaPipe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Interviewer</dc:title>
  <dc:subject>PptxGenJS Presentation</dc:subject>
  <dc:creator>PptxGenJS</dc:creator>
  <cp:lastModifiedBy>PptxGenJS</cp:lastModifiedBy>
  <cp:revision>1</cp:revision>
  <dcterms:created xsi:type="dcterms:W3CDTF">2026-06-04T08:40:34Z</dcterms:created>
  <dcterms:modified xsi:type="dcterms:W3CDTF">2026-06-04T08:40:34Z</dcterms:modified>
</cp:coreProperties>
</file>